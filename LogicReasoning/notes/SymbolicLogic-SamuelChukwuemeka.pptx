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4" r:id="rId2"/>
  </p:sldMasterIdLst>
  <p:notesMasterIdLst>
    <p:notesMasterId r:id="rId21"/>
  </p:notesMasterIdLst>
  <p:sldIdLst>
    <p:sldId id="256" r:id="rId3"/>
    <p:sldId id="268" r:id="rId4"/>
    <p:sldId id="257" r:id="rId5"/>
    <p:sldId id="270" r:id="rId6"/>
    <p:sldId id="272" r:id="rId7"/>
    <p:sldId id="269" r:id="rId8"/>
    <p:sldId id="273" r:id="rId9"/>
    <p:sldId id="274" r:id="rId10"/>
    <p:sldId id="275" r:id="rId11"/>
    <p:sldId id="276" r:id="rId12"/>
    <p:sldId id="277" r:id="rId13"/>
    <p:sldId id="278" r:id="rId14"/>
    <p:sldId id="280" r:id="rId15"/>
    <p:sldId id="281" r:id="rId16"/>
    <p:sldId id="282" r:id="rId17"/>
    <p:sldId id="283" r:id="rId18"/>
    <p:sldId id="284" r:id="rId19"/>
    <p:sldId id="285" r:id="rId20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3" autoAdjust="0"/>
    <p:restoredTop sz="94660"/>
  </p:normalViewPr>
  <p:slideViewPr>
    <p:cSldViewPr>
      <p:cViewPr varScale="1">
        <p:scale>
          <a:sx n="70" d="100"/>
          <a:sy n="70" d="100"/>
        </p:scale>
        <p:origin x="1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2/17/2015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6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www.samuelchukwuemeka.com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02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05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7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753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78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63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www.samuelchukwuemeka.com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43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459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328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947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68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525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846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202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21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612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2470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www.samuelchukwuemeka.com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780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 bright="42000" contrast="-68000"/>
          </a:blip>
          <a:srcRect/>
          <a:stretch>
            <a:fillRect l="-30000" t="-20000" r="-2000" b="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fld id="{743653DA-8BF4-4869-96FE-9BCF43372D46}" type="datetime8">
              <a:rPr lang="en-US" smtClean="0"/>
              <a:pPr algn="ctr"/>
              <a:t>2/17/2015 10:16 AM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9108-AC8D-4212-9283-60D9E99BF07A}" type="datetime8">
              <a:rPr lang="en-US" smtClean="0"/>
              <a:pPr/>
              <a:t>2/17/2015 10:16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ED3D3-6235-4F4C-B439-DF277FB555A7}" type="datetime8">
              <a:rPr lang="en-US" smtClean="0"/>
              <a:pPr/>
              <a:t>2/17/2015 10:16 AM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B5F1E3E-4B2F-4895-B65E-28B2E64F39F6}" type="datetime8">
              <a:rPr lang="en-US" smtClean="0"/>
              <a:pPr/>
              <a:t>2/17/2015 10:16 AM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3085435-8225-4333-BFFA-0096413F0D76}" type="datetime8">
              <a:rPr lang="en-US" smtClean="0"/>
              <a:pPr/>
              <a:t>2/17/2015 10:16 AM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C494-2A87-468C-A21B-CB14FB9ABB00}" type="datetime8">
              <a:rPr lang="en-US" smtClean="0"/>
              <a:pPr/>
              <a:t>2/17/2015 10:16 AM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80FA0-5B31-4864-A2BB-719EA5A679C6}" type="datetime8">
              <a:rPr lang="en-US" smtClean="0"/>
              <a:pPr/>
              <a:t>2/17/2015 10:16 AM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CC0C8-36B8-442A-833D-B6AACE86BB77}" type="datetime8">
              <a:rPr lang="en-US" smtClean="0"/>
              <a:pPr/>
              <a:t>2/17/2015 10:16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8" name="Picture 7" descr="sm_penci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2648" y="1755648"/>
            <a:ext cx="1615307" cy="2145615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1E20EC5-AC53-4169-941E-EDF10CD23748}" type="datetime8">
              <a:rPr lang="en-US" smtClean="0"/>
              <a:pPr/>
              <a:t>2/17/2015 10:16 AM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2/17/2015 10:16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2/17/2015 10:16 AM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fld id="{8D3816DF-213E-421B-92D3-C068DBB023D6}" type="datetime8">
              <a:rPr lang="en-US" smtClean="0">
                <a:solidFill>
                  <a:schemeClr val="tx2"/>
                </a:solidFill>
              </a:rPr>
              <a:pPr/>
              <a:t>2/17/2015 10:16 AM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jpeg"/><Relationship Id="rId4" Type="http://schemas.openxmlformats.org/officeDocument/2006/relationships/hyperlink" Target="http://www.samuelchukwuemeka.com/" TargetMode="Externa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GKvapQ6tOQ&amp;index=1&amp;list=PLjyyswMG9g9BjoDAHC-vjaVdkv69OKSA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ijWM8yFa6pc&amp;index=2&amp;list=PLjyyswMG9g9BjoDAHC-vjaVdkv69OKSA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314325" y="2286000"/>
            <a:ext cx="8229600" cy="3429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Logic and truth tables – part 3</a:t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writing logical propositions as symbols (symbolic logic)</a:t>
            </a:r>
            <a:b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</a:b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/>
            </a:r>
            <a:b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</a:br>
            <a:r>
              <a:rPr lang="en-US" sz="3800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S</a:t>
            </a:r>
            <a:r>
              <a:rPr lang="en-US" sz="3800" cap="none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amuel</a:t>
            </a:r>
            <a:r>
              <a:rPr lang="en-US" sz="3800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 </a:t>
            </a:r>
            <a:r>
              <a:rPr lang="en-US" sz="3800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C</a:t>
            </a:r>
            <a:r>
              <a:rPr lang="en-US" sz="3800" cap="none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hukwuemeka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   </a:t>
            </a:r>
            <a:r>
              <a:rPr lang="en-US" sz="1800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B.e</a:t>
            </a:r>
            <a:r>
              <a:rPr lang="en-US" sz="1800" cap="none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ng</a:t>
            </a:r>
            <a:r>
              <a:rPr lang="en-US" sz="1800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.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, A.a.t, </a:t>
            </a:r>
            <a:r>
              <a:rPr lang="en-US" sz="1800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m.e</a:t>
            </a:r>
            <a:r>
              <a:rPr lang="en-US" sz="1800" cap="none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d</a:t>
            </a:r>
            <a:r>
              <a:rPr lang="en-US" sz="1800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.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, </a:t>
            </a:r>
            <a:r>
              <a:rPr lang="en-US" sz="1800" dirty="0" err="1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m.s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/>
            </a:r>
            <a:b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</a:br>
            <a:r>
              <a:rPr lang="en-US" sz="3100" cap="none" dirty="0" smtClean="0">
                <a:solidFill>
                  <a:srgbClr val="FF0000"/>
                </a:solidFill>
                <a:latin typeface="Bell MT" panose="02020503060305020303" pitchFamily="18" charset="0"/>
                <a:hlinkClick r:id="rId4"/>
              </a:rPr>
              <a:t>www.samuelchukwuemeka.com</a:t>
            </a:r>
            <a:endParaRPr lang="en-US" sz="3100" cap="none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FF00"/>
                </a:solidFill>
              </a:rPr>
              <a:t>Joy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FFFF00"/>
                </a:solidFill>
              </a:rPr>
              <a:t>Teacher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FFFF00"/>
                </a:solidFill>
              </a:rPr>
              <a:t>Success</a:t>
            </a:r>
            <a:r>
              <a:rPr lang="en-US" dirty="0" smtClean="0"/>
              <a:t> of his </a:t>
            </a:r>
            <a:r>
              <a:rPr lang="en-US" dirty="0" smtClean="0">
                <a:solidFill>
                  <a:srgbClr val="FFFF00"/>
                </a:solidFill>
              </a:rPr>
              <a:t>Students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     </a:t>
            </a:r>
            <a:r>
              <a:rPr lang="en-US" dirty="0" smtClean="0">
                <a:solidFill>
                  <a:srgbClr val="FFFF00"/>
                </a:solidFill>
              </a:rPr>
              <a:t>Samuel </a:t>
            </a:r>
            <a:r>
              <a:rPr lang="en-US" dirty="0" err="1" smtClean="0">
                <a:solidFill>
                  <a:srgbClr val="FFFF00"/>
                </a:solidFill>
              </a:rPr>
              <a:t>Chukwuemeka</a:t>
            </a:r>
            <a:r>
              <a:rPr lang="en-US" dirty="0" smtClean="0"/>
              <a:t> </a:t>
            </a:r>
            <a:r>
              <a:rPr lang="en-US" dirty="0" smtClean="0">
                <a:hlinkClick r:id="rId4"/>
              </a:rPr>
              <a:t>www.samuelchukwuemeka.com</a:t>
            </a:r>
            <a:endParaRPr lang="en-US" dirty="0" smtClean="0"/>
          </a:p>
        </p:txBody>
      </p:sp>
      <p:cxnSp>
        <p:nvCxnSpPr>
          <p:cNvPr id="7" name="Elbow Connector 6"/>
          <p:cNvCxnSpPr/>
          <p:nvPr/>
        </p:nvCxnSpPr>
        <p:spPr>
          <a:xfrm>
            <a:off x="2514600" y="6457949"/>
            <a:ext cx="238130" cy="95251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228598"/>
            <a:ext cx="1219199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38125"/>
            <a:ext cx="1314449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5" y="228598"/>
            <a:ext cx="1257305" cy="1724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1228725" cy="1724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28600"/>
            <a:ext cx="1143000" cy="1724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 descr="C:\Users\samdom4peace\Pictures\ChukwuemekaSamuel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228600"/>
            <a:ext cx="121920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Objectives / Pre-requisites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8153400" cy="4495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Students will: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Write logical statements in symbolic form.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Pre-requisites</a:t>
            </a:r>
          </a:p>
          <a:p>
            <a:pPr lvl="1">
              <a:lnSpc>
                <a:spcPct val="160000"/>
              </a:lnSpc>
              <a:buFont typeface="Wingdings" pitchFamily="2" charset="2"/>
              <a:buChar char="Ø"/>
            </a:pPr>
            <a:r>
              <a:rPr lang="en-US" dirty="0" smtClean="0">
                <a:hlinkClick r:id="rId3"/>
              </a:rPr>
              <a:t>Logic and Truth Tables – Part 1: Introduction and Concepts</a:t>
            </a:r>
            <a:endParaRPr lang="en-US" dirty="0" smtClean="0"/>
          </a:p>
          <a:p>
            <a:pPr lvl="1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 smtClean="0">
                <a:hlinkClick r:id="rId4"/>
              </a:rPr>
              <a:t>Logic and Truth Tables – Part 2: Logical Connectives</a:t>
            </a:r>
            <a:endParaRPr lang="en-US" dirty="0" smtClean="0"/>
          </a:p>
          <a:p>
            <a:pPr lvl="1">
              <a:buFont typeface="Wingdings" pitchFamily="2" charset="2"/>
              <a:buChar char="Ø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of Logical Connectives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752600"/>
                <a:ext cx="3886200" cy="4572000"/>
              </a:xfrm>
              <a:ln w="19050" cmpd="dbl">
                <a:solidFill>
                  <a:schemeClr val="accent2">
                    <a:lumMod val="75000"/>
                  </a:schemeClr>
                </a:solidFill>
              </a:ln>
            </p:spPr>
            <p:txBody>
              <a:bodyPr>
                <a:normAutofit fontScale="92500" lnSpcReduction="2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u="sng" dirty="0" smtClean="0"/>
                  <a:t>Name and Symbol</a:t>
                </a: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dirty="0" smtClean="0">
                    <a:latin typeface="Bell MT" panose="02020503060305020303" pitchFamily="18" charset="0"/>
                  </a:rPr>
                  <a:t>Negation,  ~ 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¬</m:t>
                    </m:r>
                  </m:oMath>
                </a14:m>
                <a:endParaRPr lang="en-US" dirty="0" smtClean="0">
                  <a:latin typeface="Bell MT" panose="02020503060305020303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dirty="0" smtClean="0">
                    <a:latin typeface="Bell MT" panose="02020503060305020303" pitchFamily="18" charset="0"/>
                  </a:rPr>
                  <a:t>Conjunction,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∧</m:t>
                    </m:r>
                  </m:oMath>
                </a14:m>
                <a:endParaRPr lang="en-US" dirty="0" smtClean="0">
                  <a:latin typeface="Bell MT" panose="02020503060305020303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dirty="0" smtClean="0">
                    <a:latin typeface="Bell MT" panose="02020503060305020303" pitchFamily="18" charset="0"/>
                  </a:rPr>
                  <a:t>Disjunction,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⋁</m:t>
                    </m:r>
                  </m:oMath>
                </a14:m>
                <a:endParaRPr lang="en-US" dirty="0" smtClean="0">
                  <a:latin typeface="Bell MT" panose="02020503060305020303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500" dirty="0" smtClean="0">
                    <a:latin typeface="Bell MT" panose="02020503060305020303" pitchFamily="18" charset="0"/>
                  </a:rPr>
                  <a:t>Exclusive Disjunction, </a:t>
                </a:r>
                <a14:m>
                  <m:oMath xmlns:m="http://schemas.openxmlformats.org/officeDocument/2006/math">
                    <m:r>
                      <a:rPr lang="en-US" sz="2500" i="1" u="sng" smtClean="0">
                        <a:latin typeface="Cambria Math"/>
                        <a:ea typeface="Cambria Math"/>
                      </a:rPr>
                      <m:t>⋁</m:t>
                    </m:r>
                  </m:oMath>
                </a14:m>
                <a:endParaRPr lang="en-US" sz="2500" u="sng" dirty="0" smtClean="0">
                  <a:latin typeface="Bell MT" panose="02020503060305020303" pitchFamily="18" charset="0"/>
                </a:endParaRP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>
                  <a:buFont typeface="Wingdings" pitchFamily="2" charset="2"/>
                  <a:buChar char="Ø"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752600"/>
                <a:ext cx="3886200" cy="4572000"/>
              </a:xfrm>
              <a:blipFill rotWithShape="1">
                <a:blip r:embed="rId3"/>
                <a:stretch>
                  <a:fillRect l="-468" t="-2656"/>
                </a:stretch>
              </a:blipFill>
              <a:ln w="19050" cmpd="dbl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8"/>
          <p:cNvSpPr>
            <a:spLocks noGrp="1"/>
          </p:cNvSpPr>
          <p:nvPr>
            <p:ph sz="quarter" idx="2"/>
          </p:nvPr>
        </p:nvSpPr>
        <p:spPr>
          <a:xfrm>
            <a:off x="4844901" y="1752600"/>
            <a:ext cx="3886200" cy="4572000"/>
          </a:xfrm>
          <a:ln w="12700" cmpd="dbl">
            <a:solidFill>
              <a:schemeClr val="accent2">
                <a:lumMod val="75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u="sng" dirty="0" smtClean="0"/>
              <a:t>Terms Used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Bell MT" panose="02020503060305020303" pitchFamily="18" charset="0"/>
              </a:rPr>
              <a:t>Not; It is false that…; It is not the case that…; It is not true that…</a:t>
            </a:r>
            <a:endParaRPr lang="en-US" dirty="0">
              <a:latin typeface="Bell MT" panose="02020503060305020303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Bell MT" panose="02020503060305020303" pitchFamily="18" charset="0"/>
              </a:rPr>
              <a:t>And; But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Bell MT" panose="02020503060305020303" pitchFamily="18" charset="0"/>
              </a:rPr>
              <a:t>Or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latin typeface="Bell MT" panose="02020503060305020303" pitchFamily="18" charset="0"/>
              </a:rPr>
              <a:t>Either … or…but not both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Connectives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752600"/>
                <a:ext cx="3886200" cy="4572000"/>
              </a:xfrm>
              <a:ln w="19050" cmpd="dbl">
                <a:solidFill>
                  <a:schemeClr val="accent2">
                    <a:lumMod val="75000"/>
                  </a:schemeClr>
                </a:solidFill>
              </a:ln>
            </p:spPr>
            <p:txBody>
              <a:bodyPr>
                <a:normAutofit lnSpcReduction="100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b="1" dirty="0" smtClean="0"/>
                  <a:t>Conditional,  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b="1" dirty="0" smtClean="0"/>
                  <a:t>q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p implies q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If p then q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p is sufficient for q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q is necessary for p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p only if q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q if p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Only if q, p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q whenever p</a:t>
                </a:r>
              </a:p>
              <a:p>
                <a:pPr>
                  <a:buFont typeface="Wingdings" pitchFamily="2" charset="2"/>
                  <a:buChar char="Ø"/>
                </a:pPr>
                <a:endParaRPr lang="en-US" sz="3200" dirty="0">
                  <a:latin typeface="Bell MT" panose="02020503060305020303" pitchFamily="18" charset="0"/>
                </a:endParaRPr>
              </a:p>
              <a:p>
                <a:pPr>
                  <a:buFont typeface="Wingdings" pitchFamily="2" charset="2"/>
                  <a:buChar char="Ø"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752600"/>
                <a:ext cx="3886200" cy="4572000"/>
              </a:xfrm>
              <a:blipFill rotWithShape="1">
                <a:blip r:embed="rId3"/>
                <a:stretch>
                  <a:fillRect l="-780" t="-2125" b="-2125"/>
                </a:stretch>
              </a:blipFill>
              <a:ln w="19050" cmpd="dbl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quarter" idx="2"/>
              </p:nvPr>
            </p:nvSpPr>
            <p:spPr>
              <a:xfrm>
                <a:off x="4844901" y="1752600"/>
                <a:ext cx="3886200" cy="4572000"/>
              </a:xfrm>
              <a:ln w="12700" cmpd="dbl">
                <a:solidFill>
                  <a:schemeClr val="accent2">
                    <a:lumMod val="75000"/>
                  </a:schemeClr>
                </a:solidFill>
              </a:ln>
            </p:spPr>
            <p:txBody>
              <a:bodyPr>
                <a:normAutofit lnSpcReduction="100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b="1" dirty="0"/>
                  <a:t>Conditional,   </a:t>
                </a:r>
                <a:r>
                  <a:rPr lang="en-US" b="1" dirty="0" smtClean="0"/>
                  <a:t>q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b="1" dirty="0" smtClean="0"/>
                  <a:t>p</a:t>
                </a:r>
                <a:endParaRPr lang="en-US" b="1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q </a:t>
                </a:r>
                <a:r>
                  <a:rPr lang="en-US" sz="3000" dirty="0">
                    <a:latin typeface="Bell MT" panose="02020503060305020303" pitchFamily="18" charset="0"/>
                  </a:rPr>
                  <a:t>implies </a:t>
                </a:r>
                <a:r>
                  <a:rPr lang="en-US" sz="3000" dirty="0" smtClean="0">
                    <a:latin typeface="Bell MT" panose="02020503060305020303" pitchFamily="18" charset="0"/>
                  </a:rPr>
                  <a:t>p</a:t>
                </a:r>
                <a:endParaRPr lang="en-US" sz="3000" dirty="0">
                  <a:latin typeface="Bell MT" panose="02020503060305020303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>
                    <a:latin typeface="Bell MT" panose="02020503060305020303" pitchFamily="18" charset="0"/>
                  </a:rPr>
                  <a:t>If </a:t>
                </a:r>
                <a:r>
                  <a:rPr lang="en-US" sz="3000" dirty="0" smtClean="0">
                    <a:latin typeface="Bell MT" panose="02020503060305020303" pitchFamily="18" charset="0"/>
                  </a:rPr>
                  <a:t>q </a:t>
                </a:r>
                <a:r>
                  <a:rPr lang="en-US" sz="3000" dirty="0">
                    <a:latin typeface="Bell MT" panose="02020503060305020303" pitchFamily="18" charset="0"/>
                  </a:rPr>
                  <a:t>then </a:t>
                </a:r>
                <a:r>
                  <a:rPr lang="en-US" sz="3000" dirty="0" smtClean="0">
                    <a:latin typeface="Bell MT" panose="02020503060305020303" pitchFamily="18" charset="0"/>
                  </a:rPr>
                  <a:t>p</a:t>
                </a:r>
                <a:endParaRPr lang="en-US" sz="3000" dirty="0">
                  <a:latin typeface="Bell MT" panose="02020503060305020303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q </a:t>
                </a:r>
                <a:r>
                  <a:rPr lang="en-US" sz="3000" dirty="0">
                    <a:latin typeface="Bell MT" panose="02020503060305020303" pitchFamily="18" charset="0"/>
                  </a:rPr>
                  <a:t>is sufficient for </a:t>
                </a:r>
                <a:r>
                  <a:rPr lang="en-US" sz="3000" dirty="0" smtClean="0">
                    <a:latin typeface="Bell MT" panose="02020503060305020303" pitchFamily="18" charset="0"/>
                  </a:rPr>
                  <a:t>p</a:t>
                </a:r>
                <a:endParaRPr lang="en-US" sz="3000" dirty="0">
                  <a:latin typeface="Bell MT" panose="02020503060305020303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p </a:t>
                </a:r>
                <a:r>
                  <a:rPr lang="en-US" sz="3000" dirty="0">
                    <a:latin typeface="Bell MT" panose="02020503060305020303" pitchFamily="18" charset="0"/>
                  </a:rPr>
                  <a:t>is necessary for </a:t>
                </a:r>
                <a:r>
                  <a:rPr lang="en-US" sz="3000" dirty="0" smtClean="0">
                    <a:latin typeface="Bell MT" panose="02020503060305020303" pitchFamily="18" charset="0"/>
                  </a:rPr>
                  <a:t>q</a:t>
                </a:r>
                <a:endParaRPr lang="en-US" sz="3000" dirty="0">
                  <a:latin typeface="Bell MT" panose="02020503060305020303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q </a:t>
                </a:r>
                <a:r>
                  <a:rPr lang="en-US" sz="3000" dirty="0">
                    <a:latin typeface="Bell MT" panose="02020503060305020303" pitchFamily="18" charset="0"/>
                  </a:rPr>
                  <a:t>only if </a:t>
                </a:r>
                <a:r>
                  <a:rPr lang="en-US" sz="3000" dirty="0" smtClean="0">
                    <a:latin typeface="Bell MT" panose="02020503060305020303" pitchFamily="18" charset="0"/>
                  </a:rPr>
                  <a:t>p</a:t>
                </a:r>
                <a:endParaRPr lang="en-US" sz="3000" dirty="0">
                  <a:latin typeface="Bell MT" panose="02020503060305020303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p </a:t>
                </a:r>
                <a:r>
                  <a:rPr lang="en-US" sz="3000" dirty="0">
                    <a:latin typeface="Bell MT" panose="02020503060305020303" pitchFamily="18" charset="0"/>
                  </a:rPr>
                  <a:t>if </a:t>
                </a:r>
                <a:r>
                  <a:rPr lang="en-US" sz="3000" dirty="0" smtClean="0">
                    <a:latin typeface="Bell MT" panose="02020503060305020303" pitchFamily="18" charset="0"/>
                  </a:rPr>
                  <a:t>q</a:t>
                </a:r>
                <a:endParaRPr lang="en-US" sz="3000" dirty="0">
                  <a:latin typeface="Bell MT" panose="02020503060305020303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>
                    <a:latin typeface="Bell MT" panose="02020503060305020303" pitchFamily="18" charset="0"/>
                  </a:rPr>
                  <a:t>Only if </a:t>
                </a:r>
                <a:r>
                  <a:rPr lang="en-US" sz="3000" dirty="0" smtClean="0">
                    <a:latin typeface="Bell MT" panose="02020503060305020303" pitchFamily="18" charset="0"/>
                  </a:rPr>
                  <a:t>p, q</a:t>
                </a:r>
                <a:endParaRPr lang="en-US" sz="3000" dirty="0">
                  <a:latin typeface="Bell MT" panose="02020503060305020303" pitchFamily="18" charset="0"/>
                </a:endParaRP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p </a:t>
                </a:r>
                <a:r>
                  <a:rPr lang="en-US" sz="3000" dirty="0">
                    <a:latin typeface="Bell MT" panose="02020503060305020303" pitchFamily="18" charset="0"/>
                  </a:rPr>
                  <a:t>whenever </a:t>
                </a:r>
                <a:r>
                  <a:rPr lang="en-US" sz="3000" dirty="0" smtClean="0">
                    <a:latin typeface="Bell MT" panose="02020503060305020303" pitchFamily="18" charset="0"/>
                  </a:rPr>
                  <a:t>q</a:t>
                </a:r>
                <a:endParaRPr lang="en-US" sz="3000" dirty="0">
                  <a:latin typeface="Bell MT" panose="02020503060305020303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>
              <a:xfrm>
                <a:off x="4844901" y="1752600"/>
                <a:ext cx="3886200" cy="4572000"/>
              </a:xfrm>
              <a:blipFill rotWithShape="1">
                <a:blip r:embed="rId4"/>
                <a:stretch>
                  <a:fillRect l="-939" t="-2128" b="-2261"/>
                </a:stretch>
              </a:blipFill>
              <a:ln w="12700" cmpd="dbl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12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Connectives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752600"/>
                <a:ext cx="3886200" cy="4572000"/>
              </a:xfrm>
              <a:ln w="19050" cmpd="dbl">
                <a:solidFill>
                  <a:schemeClr val="accent2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b="1" dirty="0" err="1" smtClean="0"/>
                  <a:t>Biconditional</a:t>
                </a:r>
                <a:r>
                  <a:rPr lang="en-US" b="1" dirty="0" smtClean="0"/>
                  <a:t>,  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↔</m:t>
                    </m:r>
                  </m:oMath>
                </a14:m>
                <a:r>
                  <a:rPr lang="en-US" b="1" dirty="0" smtClean="0"/>
                  <a:t>q</a:t>
                </a:r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p if and only if q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p is necessary and sufficient for q</a:t>
                </a:r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 smtClean="0">
                    <a:latin typeface="Bell MT" panose="02020503060305020303" pitchFamily="18" charset="0"/>
                  </a:rPr>
                  <a:t>If p then q; if q then p</a:t>
                </a:r>
              </a:p>
              <a:p>
                <a:pPr>
                  <a:buFont typeface="Wingdings" pitchFamily="2" charset="2"/>
                  <a:buChar char="Ø"/>
                </a:pPr>
                <a:endParaRPr lang="en-US" sz="3200" dirty="0">
                  <a:latin typeface="Bell MT" panose="02020503060305020303" pitchFamily="18" charset="0"/>
                </a:endParaRPr>
              </a:p>
              <a:p>
                <a:pPr>
                  <a:buFont typeface="Wingdings" pitchFamily="2" charset="2"/>
                  <a:buChar char="Ø"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752600"/>
                <a:ext cx="3886200" cy="4572000"/>
              </a:xfrm>
              <a:blipFill rotWithShape="1">
                <a:blip r:embed="rId3"/>
                <a:stretch>
                  <a:fillRect l="-780" t="-1195" r="-780"/>
                </a:stretch>
              </a:blipFill>
              <a:ln w="19050" cmpd="dbl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quarter" idx="2"/>
              </p:nvPr>
            </p:nvSpPr>
            <p:spPr>
              <a:xfrm>
                <a:off x="4844901" y="1752600"/>
                <a:ext cx="3886200" cy="4572000"/>
              </a:xfrm>
              <a:ln w="12700" cmpd="dbl">
                <a:solidFill>
                  <a:schemeClr val="accent2">
                    <a:lumMod val="75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b="1" dirty="0" err="1" smtClean="0"/>
                  <a:t>Biconditional</a:t>
                </a:r>
                <a:r>
                  <a:rPr lang="en-US" b="1" dirty="0"/>
                  <a:t>,   </a:t>
                </a:r>
                <a:r>
                  <a:rPr lang="en-US" b="1" dirty="0" smtClean="0"/>
                  <a:t>q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↔</m:t>
                    </m:r>
                  </m:oMath>
                </a14:m>
                <a:r>
                  <a:rPr lang="en-US" b="1" dirty="0" smtClean="0"/>
                  <a:t>p</a:t>
                </a:r>
                <a:endParaRPr lang="en-US" b="1" dirty="0"/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q if and only if p</a:t>
                </a:r>
                <a:endParaRPr lang="en-US" sz="3000" dirty="0">
                  <a:latin typeface="Bell MT" panose="02020503060305020303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 smtClean="0">
                    <a:latin typeface="Bell MT" panose="02020503060305020303" pitchFamily="18" charset="0"/>
                  </a:rPr>
                  <a:t>q </a:t>
                </a:r>
                <a:r>
                  <a:rPr lang="en-US" sz="3000" dirty="0">
                    <a:latin typeface="Bell MT" panose="02020503060305020303" pitchFamily="18" charset="0"/>
                  </a:rPr>
                  <a:t>is necessary and sufficient for </a:t>
                </a:r>
                <a:r>
                  <a:rPr lang="en-US" sz="3000" dirty="0" smtClean="0">
                    <a:latin typeface="Bell MT" panose="02020503060305020303" pitchFamily="18" charset="0"/>
                  </a:rPr>
                  <a:t>p</a:t>
                </a:r>
                <a:endParaRPr lang="en-US" sz="3000" dirty="0">
                  <a:latin typeface="Bell MT" panose="02020503060305020303" pitchFamily="18" charset="0"/>
                </a:endParaRPr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latin typeface="Bell MT" panose="02020503060305020303" pitchFamily="18" charset="0"/>
                  </a:rPr>
                  <a:t>If </a:t>
                </a:r>
                <a:r>
                  <a:rPr lang="en-US" sz="2800" dirty="0" smtClean="0">
                    <a:latin typeface="Bell MT" panose="02020503060305020303" pitchFamily="18" charset="0"/>
                  </a:rPr>
                  <a:t>q </a:t>
                </a:r>
                <a:r>
                  <a:rPr lang="en-US" sz="2800" dirty="0">
                    <a:latin typeface="Bell MT" panose="02020503060305020303" pitchFamily="18" charset="0"/>
                  </a:rPr>
                  <a:t>then </a:t>
                </a:r>
                <a:r>
                  <a:rPr lang="en-US" sz="2800" dirty="0" smtClean="0">
                    <a:latin typeface="Bell MT" panose="02020503060305020303" pitchFamily="18" charset="0"/>
                  </a:rPr>
                  <a:t>p; </a:t>
                </a:r>
                <a:r>
                  <a:rPr lang="en-US" sz="2800" dirty="0">
                    <a:latin typeface="Bell MT" panose="02020503060305020303" pitchFamily="18" charset="0"/>
                  </a:rPr>
                  <a:t>if </a:t>
                </a:r>
                <a:r>
                  <a:rPr lang="en-US" sz="2800" dirty="0" smtClean="0">
                    <a:latin typeface="Bell MT" panose="02020503060305020303" pitchFamily="18" charset="0"/>
                  </a:rPr>
                  <a:t>p </a:t>
                </a:r>
                <a:r>
                  <a:rPr lang="en-US" sz="2800" dirty="0">
                    <a:latin typeface="Bell MT" panose="02020503060305020303" pitchFamily="18" charset="0"/>
                  </a:rPr>
                  <a:t>then </a:t>
                </a:r>
                <a:r>
                  <a:rPr lang="en-US" sz="2800" dirty="0" smtClean="0">
                    <a:latin typeface="Bell MT" panose="02020503060305020303" pitchFamily="18" charset="0"/>
                  </a:rPr>
                  <a:t>q</a:t>
                </a:r>
                <a:endParaRPr lang="en-US" sz="2800" dirty="0">
                  <a:latin typeface="Bell MT" panose="02020503060305020303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>
              <a:xfrm>
                <a:off x="4844901" y="1752600"/>
                <a:ext cx="3886200" cy="4572000"/>
              </a:xfrm>
              <a:blipFill rotWithShape="1">
                <a:blip r:embed="rId4"/>
                <a:stretch>
                  <a:fillRect l="-939" t="-1197" r="-1095"/>
                </a:stretch>
              </a:blipFill>
              <a:ln w="12700" cmpd="dbl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47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/>
                  <a:t>p: We are humans.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/>
                  <a:t>q: We love our neighbors.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/>
                  <a:t>r:  We live in peace.</a:t>
                </a:r>
              </a:p>
              <a:p>
                <a:pPr>
                  <a:buFont typeface="Wingdings" pitchFamily="2" charset="2"/>
                  <a:buChar char="Ø"/>
                </a:pPr>
                <a:endParaRPr lang="en-US" dirty="0"/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We are humans and we love our neighbors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/>
                  <a:t>            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p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∧ 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    q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We live in peace or we love our neighbors.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r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⋁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            q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We live in peace but we are not humans.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/>
                  <a:t>            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r  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¬ 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p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2600" dirty="0" smtClean="0"/>
                  <a:t>We do not love our neighbors or we do not live in peace</a:t>
                </a:r>
                <a:r>
                  <a:rPr lang="en-US" dirty="0" smtClean="0"/>
                  <a:t>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q    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⋁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r</m:t>
                    </m:r>
                  </m:oMath>
                </a14:m>
                <a:endParaRPr lang="en-US" dirty="0" smtClean="0">
                  <a:solidFill>
                    <a:srgbClr val="FF0000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sz="2600" dirty="0" smtClean="0">
                    <a:solidFill>
                      <a:prstClr val="black"/>
                    </a:solidFill>
                  </a:rPr>
                  <a:t>Either we are humans or </a:t>
                </a:r>
                <a:r>
                  <a:rPr lang="en-US" sz="2600" dirty="0">
                    <a:solidFill>
                      <a:prstClr val="black"/>
                    </a:solidFill>
                  </a:rPr>
                  <a:t>we </a:t>
                </a:r>
                <a:r>
                  <a:rPr lang="en-US" sz="2600" dirty="0" smtClean="0">
                    <a:solidFill>
                      <a:prstClr val="black"/>
                    </a:solidFill>
                  </a:rPr>
                  <a:t>live </a:t>
                </a:r>
                <a:r>
                  <a:rPr lang="en-US" sz="2600" dirty="0">
                    <a:solidFill>
                      <a:prstClr val="black"/>
                    </a:solidFill>
                  </a:rPr>
                  <a:t>in </a:t>
                </a:r>
                <a:r>
                  <a:rPr lang="en-US" sz="2600" dirty="0" smtClean="0">
                    <a:solidFill>
                      <a:prstClr val="black"/>
                    </a:solidFill>
                  </a:rPr>
                  <a:t>peace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, but not both.</a:t>
                </a: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           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p             </a:t>
                </a:r>
                <a14:m>
                  <m:oMath xmlns:m="http://schemas.openxmlformats.org/officeDocument/2006/math">
                    <m:r>
                      <a:rPr lang="en-US" sz="3200" i="1" u="sng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⋁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      r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sz="2600" dirty="0" smtClean="0">
                    <a:solidFill>
                      <a:prstClr val="black"/>
                    </a:solidFill>
                  </a:rPr>
                  <a:t>Either we do not live in peace or we love our neighbors, but not both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r                        </a:t>
                </a:r>
                <a14:m>
                  <m:oMath xmlns:m="http://schemas.openxmlformats.org/officeDocument/2006/math">
                    <m:r>
                      <a:rPr lang="en-US" sz="3200" i="1" u="sng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⋁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         q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      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449" t="-2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15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If we love our neighbors, then we live in peace.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If               q                  then             r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/>
                  <a:t>                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q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            r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Not loving our neighbors implies not being humans.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        Not q                   implies             not p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q                 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p</a:t>
                </a:r>
                <a:endParaRPr lang="en-US" dirty="0" smtClean="0">
                  <a:solidFill>
                    <a:srgbClr val="FF0000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We live in peace if we love our neighbors.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               r         if            q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>
                    <a:solidFill>
                      <a:prstClr val="black"/>
                    </a:solidFill>
                  </a:rPr>
                  <a:t>          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   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q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          </a:t>
                </a:r>
                <a:r>
                  <a:rPr lang="en-US" dirty="0">
                    <a:solidFill>
                      <a:srgbClr val="FF0000"/>
                    </a:solidFill>
                  </a:rPr>
                  <a:t>r</a:t>
                </a: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449" t="-2307"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39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We live in peace only if we love our neighbors.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               r          only if             q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r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           q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Only if we love our neighbors do we live in peace 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        Only if q,                                     r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r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                  q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sz="2500" dirty="0" smtClean="0">
                    <a:solidFill>
                      <a:prstClr val="black"/>
                    </a:solidFill>
                  </a:rPr>
                  <a:t>We do not live in peace whenever we do not love our neighbors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r         whenever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q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>
                    <a:solidFill>
                      <a:prstClr val="black"/>
                    </a:solidFill>
                  </a:rPr>
                  <a:t>          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q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r</a:t>
                </a: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374" t="-2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84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49580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Loving our neighbors is necessary for living in peace.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               q              is necessary for             r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/>
                  <a:t>               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r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                    q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Not living in peace is sufficient for being humans.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        Not r             is sufficient for           p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r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                    p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We are humans if and only if we love our neighbors.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p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↔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               q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Loving our neighbors is necessary and sufficient for living in peace.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>
                    <a:solidFill>
                      <a:srgbClr val="FF0000"/>
                    </a:solidFill>
                  </a:rPr>
                  <a:t>             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q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↔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                  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r</a:t>
                </a:r>
                <a:endParaRPr lang="en-US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495800"/>
              </a:xfrm>
              <a:blipFill rotWithShape="1">
                <a:blip r:embed="rId3"/>
                <a:stretch>
                  <a:fillRect l="-224" t="-2578" r="-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35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495800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It is not true that we are humans and we love our neighbors.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(p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q)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It is false that we do not love our neighbors or we do not live in peace.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q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⋁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r)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We love our neighbors and we live in peace, or we are humans.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         (q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r)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⋁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p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If we do not live in peace or we do not love our neighbors, then we are not humans.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       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r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⋁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q)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p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495800"/>
              </a:xfrm>
              <a:blipFill rotWithShape="1">
                <a:blip r:embed="rId3"/>
                <a:stretch>
                  <a:fillRect l="-224" t="-1900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40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49580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If we love our neighbors, then we live in peace or we are not humans.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       q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(r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⋁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p)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If we live in peace, then we are humans if and only if we love our neighbors.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        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(p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↔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q)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It is not the case that if we are humans then we do not live in peace.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 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(p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r)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If it is false that we are humans and we do not love our neighbors, then we do not live in peace.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(p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q)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r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495800"/>
              </a:xfrm>
              <a:blipFill rotWithShape="1">
                <a:blip r:embed="rId3"/>
                <a:stretch>
                  <a:fillRect l="-224" t="-2578" r="-1795" b="-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510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4958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 smtClean="0"/>
                  <a:t>If we do not live in peace, then it is not true that we are humans and we love our neighbors.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(p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q)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If we do not live in peace, then we are not humans and we love our neighbors.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/>
                        <a:cs typeface="Times New Roman"/>
                      </a:rPr>
                      <m:t>(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p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q)</a:t>
                </a:r>
                <a:endParaRPr lang="en-US" dirty="0" smtClean="0">
                  <a:solidFill>
                    <a:srgbClr val="FF0000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Loving our neighbors is necessary and sufficient for living in peace if we are humans.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                      q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↔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   r </a:t>
                </a: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  if   p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     q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(p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r) 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495800"/>
              </a:xfrm>
              <a:blipFill rotWithShape="0">
                <a:blip r:embed="rId3"/>
                <a:stretch>
                  <a:fillRect l="-374" t="-2307" r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63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953000"/>
              </a:xfrm>
            </p:spPr>
            <p:txBody>
              <a:bodyPr>
                <a:normAutofit fontScale="92500" lnSpcReduction="10000"/>
              </a:bodyPr>
              <a:lstStyle/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sz="2700" dirty="0" smtClean="0">
                    <a:solidFill>
                      <a:prstClr val="black"/>
                    </a:solidFill>
                  </a:rPr>
                  <a:t>Not living in peace is both necessary and sufficient for being humans if we do not love our neighbors.</a:t>
                </a:r>
                <a:endParaRPr lang="en-US" sz="2700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sz="2700" dirty="0">
                    <a:solidFill>
                      <a:prstClr val="black"/>
                    </a:solid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sz="2700" dirty="0">
                    <a:solidFill>
                      <a:prstClr val="black"/>
                    </a:solidFill>
                  </a:rPr>
                  <a:t> </a:t>
                </a:r>
                <a:r>
                  <a:rPr lang="en-US" sz="2700" dirty="0" smtClean="0">
                    <a:solidFill>
                      <a:prstClr val="black"/>
                    </a:solidFill>
                  </a:rPr>
                  <a:t>r   </a:t>
                </a: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↔</m:t>
                    </m:r>
                  </m:oMath>
                </a14:m>
                <a:r>
                  <a:rPr lang="en-US" sz="2700" dirty="0">
                    <a:solidFill>
                      <a:prstClr val="black"/>
                    </a:solidFill>
                  </a:rPr>
                  <a:t>    </a:t>
                </a:r>
                <a:r>
                  <a:rPr lang="en-US" sz="2700" dirty="0" smtClean="0">
                    <a:solidFill>
                      <a:prstClr val="black"/>
                    </a:solidFill>
                  </a:rPr>
                  <a:t>p    </a:t>
                </a:r>
                <a:r>
                  <a:rPr lang="en-US" sz="2700" dirty="0">
                    <a:solidFill>
                      <a:prstClr val="black"/>
                    </a:solidFill>
                  </a:rPr>
                  <a:t>if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2700" dirty="0" smtClean="0">
                    <a:solidFill>
                      <a:prstClr val="black"/>
                    </a:solidFill>
                  </a:rPr>
                  <a:t> q</a:t>
                </a:r>
                <a:endParaRPr lang="en-US" sz="2700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sz="2700" dirty="0">
                    <a:solidFill>
                      <a:srgbClr val="FF0000"/>
                    </a:solid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</a:rPr>
                  <a:t> </a:t>
                </a:r>
                <a:r>
                  <a:rPr lang="en-US" sz="2700" dirty="0" smtClean="0">
                    <a:solidFill>
                      <a:srgbClr val="FF0000"/>
                    </a:solidFill>
                  </a:rPr>
                  <a:t>r   </a:t>
                </a: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</a:rPr>
                      <m:t>↔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</a:rPr>
                  <a:t>    </a:t>
                </a:r>
                <a:r>
                  <a:rPr lang="en-US" sz="2700" dirty="0" smtClean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sz="2700" dirty="0" smtClean="0">
                    <a:solidFill>
                      <a:srgbClr val="FF0000"/>
                    </a:solidFill>
                  </a:rPr>
                  <a:t> q </a:t>
                </a: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</a:rPr>
                  <a:t>  </a:t>
                </a:r>
                <a:r>
                  <a:rPr lang="en-US" sz="2700" dirty="0" smtClean="0">
                    <a:solidFill>
                      <a:srgbClr val="FF0000"/>
                    </a:solidFill>
                  </a:rPr>
                  <a:t>p) </a:t>
                </a:r>
                <a:endParaRPr lang="en-US" sz="2700" dirty="0">
                  <a:solidFill>
                    <a:srgbClr val="FF0000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Sufficient conditions for not living in peace are being humans and not loving your neighbors. </a:t>
                </a:r>
              </a:p>
              <a:p>
                <a:pPr marL="0" lvl="0" indent="0">
                  <a:buClr>
                    <a:srgbClr val="FEB80A"/>
                  </a:buClr>
                  <a:buNone/>
                </a:pP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  (Rephrase)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Being humans and not loving your neighbors are sufficient conditions for not living in peace.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               p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q are sufficient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r 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(p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q)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r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953000"/>
              </a:xfrm>
              <a:blipFill rotWithShape="1">
                <a:blip r:embed="rId3"/>
                <a:stretch>
                  <a:fillRect l="-374" t="-1724" r="-2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49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953000"/>
              </a:xfrm>
            </p:spPr>
            <p:txBody>
              <a:bodyPr>
                <a:normAutofit/>
              </a:bodyPr>
              <a:lstStyle/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It is not true that sufficient conditions for not living in peace are being humans and not loving your neighbors. </a:t>
                </a:r>
              </a:p>
              <a:p>
                <a:pPr marL="0" lvl="0" indent="0">
                  <a:buClr>
                    <a:srgbClr val="FEB80A"/>
                  </a:buClr>
                  <a:buNone/>
                </a:pPr>
                <a:r>
                  <a:rPr lang="en-US" dirty="0" smtClean="0">
                    <a:solidFill>
                      <a:prstClr val="black"/>
                    </a:solidFill>
                  </a:rPr>
                  <a:t>   (Rephrase)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It is not true that being humans and not loving your neighbors are sufficient conditions for not living in peace.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  (p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q are sufficient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r) 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((p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q)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r)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953000"/>
              </a:xfrm>
              <a:blipFill rotWithShape="1">
                <a:blip r:embed="rId3"/>
                <a:stretch>
                  <a:fillRect l="-449" t="-1232" r="-1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66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876800"/>
              </a:xfrm>
            </p:spPr>
            <p:txBody>
              <a:bodyPr>
                <a:normAutofit/>
              </a:bodyPr>
              <a:lstStyle/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It is not the case that necessary conditions for living in peace are being humans and loving your neighbors. </a:t>
                </a:r>
              </a:p>
              <a:p>
                <a:pPr marL="0" lvl="0" indent="0">
                  <a:buClr>
                    <a:srgbClr val="FEB80A"/>
                  </a:buClr>
                  <a:buNone/>
                </a:pPr>
                <a:r>
                  <a:rPr lang="en-US" dirty="0" smtClean="0">
                    <a:solidFill>
                      <a:prstClr val="black"/>
                    </a:solidFill>
                  </a:rPr>
                  <a:t>   (Rephrase)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It is not the case that being humans and loving your neighbors are necessary conditions for living in peace.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>
                    <a:solidFill>
                      <a:prstClr val="black"/>
                    </a:solidFill>
                  </a:rPr>
                  <a:t> </a:t>
                </a:r>
                <a:r>
                  <a:rPr lang="en-US" dirty="0" smtClean="0">
                    <a:solidFill>
                      <a:prstClr val="black"/>
                    </a:solidFill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  (p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  q are necessary for  r) 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¬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(r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(p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q))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876800"/>
              </a:xfrm>
              <a:blipFill rotWithShape="1">
                <a:blip r:embed="rId3"/>
                <a:stretch>
                  <a:fillRect l="-449" t="-1250" r="-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044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in Symbolic Logic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419600"/>
              </a:xfrm>
            </p:spPr>
            <p:txBody>
              <a:bodyPr>
                <a:normAutofit lnSpcReduction="10000"/>
              </a:bodyPr>
              <a:lstStyle/>
              <a:p>
                <a:pPr lvl="0">
                  <a:lnSpc>
                    <a:spcPct val="150000"/>
                  </a:lnSpc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Necessary conditions for living in peace are being humans and loving your neighbors. </a:t>
                </a:r>
              </a:p>
              <a:p>
                <a:pPr marL="0" lvl="0" indent="0">
                  <a:lnSpc>
                    <a:spcPct val="150000"/>
                  </a:lnSpc>
                  <a:buClr>
                    <a:srgbClr val="FEB80A"/>
                  </a:buClr>
                  <a:buNone/>
                </a:pPr>
                <a:r>
                  <a:rPr lang="en-US" dirty="0" smtClean="0">
                    <a:solidFill>
                      <a:prstClr val="black"/>
                    </a:solidFill>
                  </a:rPr>
                  <a:t>   (Rephrase)</a:t>
                </a:r>
              </a:p>
              <a:p>
                <a:pPr lvl="0">
                  <a:lnSpc>
                    <a:spcPct val="150000"/>
                  </a:lnSpc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Being humans and loving your neighbors are necessary conditions for living in peace.</a:t>
                </a:r>
              </a:p>
              <a:p>
                <a:pPr lvl="0">
                  <a:buClr>
                    <a:srgbClr val="FEB80A"/>
                  </a:buClr>
                  <a:buFont typeface="Wingdings" pitchFamily="2" charset="2"/>
                  <a:buChar char="Ø"/>
                </a:pPr>
                <a:r>
                  <a:rPr lang="en-US" dirty="0" smtClean="0">
                    <a:solidFill>
                      <a:prstClr val="black"/>
                    </a:solidFill>
                  </a:rPr>
                  <a:t>                  p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prstClr val="black"/>
                    </a:solidFill>
                  </a:rPr>
                  <a:t>   q are necessary for  r </a:t>
                </a:r>
                <a:endParaRPr lang="en-US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FEB80A"/>
                  </a:buClr>
                  <a:buFont typeface="Wingdings" panose="05000000000000000000" pitchFamily="2" charset="2"/>
                  <a:buChar char="q"/>
                </a:pPr>
                <a:r>
                  <a:rPr lang="en-US" dirty="0" smtClean="0">
                    <a:solidFill>
                      <a:srgbClr val="FF0000"/>
                    </a:solidFill>
                  </a:rPr>
                  <a:t>                  r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 (p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/>
                      </a:rPr>
                      <m:t>∧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 q)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419600"/>
              </a:xfrm>
              <a:blipFill rotWithShape="1">
                <a:blip r:embed="rId3"/>
                <a:stretch>
                  <a:fillRect l="-449" b="-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53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19600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60000"/>
              </a:lnSpc>
              <a:buClr>
                <a:srgbClr val="FEB80A"/>
              </a:buClr>
              <a:buFont typeface="Wingdings" pitchFamily="2" charset="2"/>
              <a:buChar char="Ø"/>
            </a:pPr>
            <a:r>
              <a:rPr lang="en-US" dirty="0"/>
              <a:t>Blitzer, R. (</a:t>
            </a:r>
            <a:r>
              <a:rPr lang="en-US" dirty="0" smtClean="0"/>
              <a:t>2015). </a:t>
            </a:r>
            <a:r>
              <a:rPr lang="en-US" i="1" dirty="0"/>
              <a:t>Thinking Mathematically Plus New </a:t>
            </a:r>
            <a:r>
              <a:rPr lang="en-US" i="1" dirty="0" err="1"/>
              <a:t>Mymathlab</a:t>
            </a:r>
            <a:r>
              <a:rPr lang="en-US" i="1" dirty="0"/>
              <a:t> With Pearson </a:t>
            </a:r>
            <a:r>
              <a:rPr lang="en-US" i="1" dirty="0" err="1"/>
              <a:t>Etext</a:t>
            </a:r>
            <a:r>
              <a:rPr lang="en-US" i="1" dirty="0"/>
              <a:t> Access Card.</a:t>
            </a:r>
            <a:r>
              <a:rPr lang="en-US" dirty="0"/>
              <a:t> Pearson College Div. </a:t>
            </a:r>
            <a:endParaRPr lang="en-US" dirty="0" smtClean="0"/>
          </a:p>
          <a:p>
            <a:pPr lvl="0">
              <a:lnSpc>
                <a:spcPct val="160000"/>
              </a:lnSpc>
              <a:buClr>
                <a:srgbClr val="FEB80A"/>
              </a:buClr>
              <a:buFont typeface="Wingdings" pitchFamily="2" charset="2"/>
              <a:buChar char="Ø"/>
            </a:pPr>
            <a:r>
              <a:rPr lang="en-US" dirty="0"/>
              <a:t>Tan, S. (2015). </a:t>
            </a:r>
            <a:r>
              <a:rPr lang="en-US" i="1" dirty="0"/>
              <a:t>Finite mathematics for the </a:t>
            </a:r>
            <a:r>
              <a:rPr lang="en-US" i="1" dirty="0" smtClean="0"/>
              <a:t>managerial</a:t>
            </a:r>
            <a:r>
              <a:rPr lang="en-US" i="1" dirty="0"/>
              <a:t>, life, and social sciences</a:t>
            </a:r>
            <a:r>
              <a:rPr lang="en-US" dirty="0"/>
              <a:t> (11th ed.). </a:t>
            </a:r>
            <a:endParaRPr lang="en-US" dirty="0" smtClean="0"/>
          </a:p>
          <a:p>
            <a:pPr lvl="0">
              <a:lnSpc>
                <a:spcPct val="160000"/>
              </a:lnSpc>
              <a:buClr>
                <a:srgbClr val="FEB80A"/>
              </a:buClr>
              <a:buFont typeface="Wingdings" pitchFamily="2" charset="2"/>
              <a:buChar char="Ø"/>
            </a:pPr>
            <a:r>
              <a:rPr lang="en-US" dirty="0"/>
              <a:t>Images taken from </a:t>
            </a:r>
            <a:r>
              <a:rPr lang="en-US" dirty="0">
                <a:hlinkClick r:id="rId3"/>
              </a:rPr>
              <a:t>http://en.wikipedia.org/wiki/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8242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cademicPresentation1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7B6A5FA-AEDC-493D-A38F-607DB1F387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AcademicPresentation1</Template>
  <TotalTime>0</TotalTime>
  <Words>1279</Words>
  <Application>Microsoft Office PowerPoint</Application>
  <PresentationFormat>On-screen Show (4:3)</PresentationFormat>
  <Paragraphs>191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Algerian</vt:lpstr>
      <vt:lpstr>Bell MT</vt:lpstr>
      <vt:lpstr>Calibri</vt:lpstr>
      <vt:lpstr>Cambria Math</vt:lpstr>
      <vt:lpstr>Times New Roman</vt:lpstr>
      <vt:lpstr>Tw Cen MT</vt:lpstr>
      <vt:lpstr>Wingdings</vt:lpstr>
      <vt:lpstr>Wingdings 2</vt:lpstr>
      <vt:lpstr>AcademicPresentation1</vt:lpstr>
      <vt:lpstr> Logic and truth tables – part 3  writing logical propositions as symbols (symbolic logic)  Samuel Chukwuemeka   B.eng., A.a.t, m.ed., m.s www.samuelchukwuemeka.com</vt:lpstr>
      <vt:lpstr>Objectives / Pre-requisites</vt:lpstr>
      <vt:lpstr>Review of Logical Connectives</vt:lpstr>
      <vt:lpstr>Logical Connectives (contd.)</vt:lpstr>
      <vt:lpstr>Logical Connectives (contd.)</vt:lpstr>
      <vt:lpstr>Write in Symbolic Logic</vt:lpstr>
      <vt:lpstr>Write in Symbolic Logic</vt:lpstr>
      <vt:lpstr>Write in Symbolic Logic</vt:lpstr>
      <vt:lpstr>Write in Symbolic Logic</vt:lpstr>
      <vt:lpstr>Write in Symbolic Logic</vt:lpstr>
      <vt:lpstr>Write in Symbolic Logic</vt:lpstr>
      <vt:lpstr>Write in Symbolic Logic</vt:lpstr>
      <vt:lpstr>Write in Symbolic Logic</vt:lpstr>
      <vt:lpstr>Write in Symbolic Logic</vt:lpstr>
      <vt:lpstr>Write in Symbolic Logic</vt:lpstr>
      <vt:lpstr>Write in Symbolic Logic</vt:lpstr>
      <vt:lpstr>Write in Symbolic Logic</vt:lpstr>
      <vt:lpstr>References 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2014-10-07T14:38:17Z</dcterms:created>
  <dcterms:modified xsi:type="dcterms:W3CDTF">2015-02-17T16:18:59Z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